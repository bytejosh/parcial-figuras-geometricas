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2FD10BB8-3E24-BE7E-B5D4-0D237310C1E3}">
          <p14:sldIdLst>
            <p14:sldId id="256"/>
            <p14:sldId id="257"/>
          </p14:sldIdLst>
        </p14:section>
        <p14:section name="Arquitectura" id="{330D5ACB-1619-7CAF-0E5E-FFC19B6CFEAB}">
          <p14:sldIdLst>
            <p14:sldId id="258"/>
            <p14:sldId id="259"/>
          </p14:sldIdLst>
        </p14:section>
        <p14:section name="Implementación" id="{78A61FF9-0502-7E39-DE33-97EE3337E77B}">
          <p14:sldIdLst>
            <p14:sldId id="260"/>
            <p14:sldId id="261"/>
            <p14:sldId id="262"/>
            <p14:sldId id="263"/>
          </p14:sldIdLst>
        </p14:section>
        <p14:section name="Resultados" id="{C5296D97-40E6-CB54-A933-D1CDF6EC4A65}">
          <p14:sldIdLst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420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proyecto: una interfaz gráfica con Java Swing para el modelo de figuras geométricas.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 modificó nada del paquete figuras. Todo lo nuevo vive en el paquete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clave para la profesora: el modelo se puede cambiar o probar por consola sin tocar la interfaz.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clases nuevas. Cuatro son pantallas, una guarda los datos y otra lee los campos de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única regla es que los nombres sean idénticos. Si se renombra en un archivo y no en el otro, el diseñador marca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 método se inserta al inicio del constructor, por eso ya podemos usar btnCrear.addActionListener sin haberlo creado.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las pantallas siguen el mismo patrón en el constructor. El repositorio es una sola instancia creada en MenuPrincipal y pasada por constructor a cada ventana.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completo de un caso: lectura, validación en el modelo, almacenamiento en el repositorio y manejo de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Polimorfismo: la interfaz no necesita saber de qué tipo es cada figura. Genéricos: compareTo solo está definido entre figuras del mismo tipo.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sugerida: ejecutar el menú, crear un círculo, gestionarlo y compararlo con otro.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 breves a las preguntas que podría hacer la profesora.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agregamos una interfaz gráfica con Swing sin modificar el modelo; las ventanas comparten un repositorio, usan polimorfismo y reutilizan las validaciones del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88720"/>
            <a:ext cx="52120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834640"/>
            <a:ext cx="5029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Ingeniería de Software II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2"/>
                </a:solidFill>
              </a:rPr>
              <a:t>INGENIERÍA DE SOFTWARE II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8872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Interfaz gráfica con Java Swing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834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Gestión de figuras geométricas: crear, ver, mover, escalar y comparar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JOSUE DANIEL CASTAÑO MONTOYA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DANIEL JOSE MUÑOZ CATAÑO</a:t>
            </a:r>
            <a:endParaRPr lang="en-US" sz="1800" dirty="0"/>
          </a:p>
        </p:txBody>
      </p:sp>
      <p:sp>
        <p:nvSpPr>
          <p:cNvPr id="6" name="fig-circulo"/>
          <p:cNvSpPr/>
          <p:nvPr/>
        </p:nvSpPr>
        <p:spPr>
          <a:xfrm>
            <a:off x="6217920" y="91440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fig-triangulo"/>
          <p:cNvSpPr/>
          <p:nvPr/>
        </p:nvSpPr>
        <p:spPr>
          <a:xfrm>
            <a:off x="7498080" y="1371600"/>
            <a:ext cx="1280160" cy="1188720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fig-cuadrilatero"/>
          <p:cNvSpPr/>
          <p:nvPr/>
        </p:nvSpPr>
        <p:spPr>
          <a:xfrm>
            <a:off x="6309360" y="2468880"/>
            <a:ext cx="1188720" cy="11887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fig-pentagono"/>
          <p:cNvSpPr/>
          <p:nvPr/>
        </p:nvSpPr>
        <p:spPr>
          <a:xfrm>
            <a:off x="7589520" y="2834640"/>
            <a:ext cx="1188720" cy="1188720"/>
          </a:xfrm>
          <a:prstGeom prst="pentagon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Qué hicimos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023360" cy="1674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Tomamos el proyecto existente: el paquete </a:t>
            </a:r>
            <a:r>
              <a:rPr lang="en-US" sz="1600" b="1" dirty="0">
                <a:solidFill>
                  <a:schemeClr val="tx1"/>
                </a:solidFill>
              </a:rPr>
              <a:t>figuras</a:t>
            </a:r>
            <a:r>
              <a:rPr lang="en-US" sz="1600" dirty="0">
                <a:solidFill>
                  <a:schemeClr val="tx1"/>
                </a:solidFill>
              </a:rPr>
              <a:t> y un Main que lo probaba por consola.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Le agregamos una interfaz con Java Swing para crear, ver, mover, escalar y comparar figuras con ventanas, sin escribir código.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Arquitectura en capas</a:t>
            </a:r>
            <a:endParaRPr lang="en-US" sz="3600" dirty="0"/>
          </a:p>
        </p:txBody>
      </p:sp>
      <p:sp>
        <p:nvSpPr>
          <p:cNvPr id="3" name="capa0"/>
          <p:cNvSpPr/>
          <p:nvPr/>
        </p:nvSpPr>
        <p:spPr>
          <a:xfrm>
            <a:off x="457200" y="1280160"/>
            <a:ext cx="2194560" cy="164592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Modelo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7452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Paquete figuras: Circulo, Triangulo…</a:t>
            </a:r>
            <a:endParaRPr lang="en-US" sz="1400" dirty="0"/>
          </a:p>
        </p:txBody>
      </p:sp>
      <p:sp>
        <p:nvSpPr>
          <p:cNvPr id="6" name="flecha0"/>
          <p:cNvSpPr/>
          <p:nvPr/>
        </p:nvSpPr>
        <p:spPr>
          <a:xfrm>
            <a:off x="2788920" y="1874520"/>
            <a:ext cx="548640" cy="365760"/>
          </a:xfrm>
          <a:prstGeom prst="lef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capa1"/>
          <p:cNvSpPr/>
          <p:nvPr/>
        </p:nvSpPr>
        <p:spPr>
          <a:xfrm>
            <a:off x="3474720" y="1280160"/>
            <a:ext cx="2194560" cy="164592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Datos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187452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RepositorioFiguras guarda las figuras</a:t>
            </a:r>
            <a:endParaRPr lang="en-US" sz="1400" dirty="0"/>
          </a:p>
        </p:txBody>
      </p:sp>
      <p:sp>
        <p:nvSpPr>
          <p:cNvPr id="10" name="flecha1"/>
          <p:cNvSpPr/>
          <p:nvPr/>
        </p:nvSpPr>
        <p:spPr>
          <a:xfrm>
            <a:off x="5806440" y="1874520"/>
            <a:ext cx="548640" cy="365760"/>
          </a:xfrm>
          <a:prstGeom prst="lef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capa2"/>
          <p:cNvSpPr/>
          <p:nvPr/>
        </p:nvSpPr>
        <p:spPr>
          <a:xfrm>
            <a:off x="6492240" y="1280160"/>
            <a:ext cx="2194560" cy="164592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Interfaz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187452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Pantallas que piden datos y muestran resultados</a:t>
            </a:r>
            <a:endParaRPr lang="en-US" sz="1400" dirty="0"/>
          </a:p>
        </p:txBody>
      </p:sp>
      <p:sp>
        <p:nvSpPr>
          <p:cNvPr id="14" name="nota"/>
          <p:cNvSpPr/>
          <p:nvPr/>
        </p:nvSpPr>
        <p:spPr>
          <a:xfrm>
            <a:off x="457200" y="3246120"/>
            <a:ext cx="82296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85800" y="32918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Cada capa solo conoce a la de su izquierda. </a:t>
            </a:r>
            <a:r>
              <a:rPr lang="en-US" sz="1600" dirty="0">
                <a:solidFill>
                  <a:schemeClr val="tx1"/>
                </a:solidFill>
              </a:rPr>
              <a:t>Las figuras no saben que existe una ventana, y las ventanas no calculan áreas: le piden a la figura area(), perimetro() e informacion().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El paquete app</a:t>
            </a:r>
            <a:endParaRPr lang="en-US" sz="3600" dirty="0"/>
          </a:p>
        </p:txBody>
      </p:sp>
      <p:sp>
        <p:nvSpPr>
          <p:cNvPr id="3" name="clase0"/>
          <p:cNvSpPr/>
          <p:nvPr/>
        </p:nvSpPr>
        <p:spPr>
          <a:xfrm>
            <a:off x="457200" y="128016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num1"/>
          <p:cNvSpPr/>
          <p:nvPr/>
        </p:nvSpPr>
        <p:spPr>
          <a:xfrm>
            <a:off x="594360" y="14173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MenuPrincipal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Ventana principal con los 4 botones</a:t>
            </a:r>
            <a:endParaRPr lang="en-US" sz="1400" dirty="0"/>
          </a:p>
        </p:txBody>
      </p:sp>
      <p:sp>
        <p:nvSpPr>
          <p:cNvPr id="7" name="clase1"/>
          <p:cNvSpPr/>
          <p:nvPr/>
        </p:nvSpPr>
        <p:spPr>
          <a:xfrm>
            <a:off x="3268980" y="128016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num2"/>
          <p:cNvSpPr/>
          <p:nvPr/>
        </p:nvSpPr>
        <p:spPr>
          <a:xfrm>
            <a:off x="3406140" y="14173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0614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CrearFiguraDialog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0614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Formulario para crear figuras</a:t>
            </a:r>
            <a:endParaRPr lang="en-US" sz="1400" dirty="0"/>
          </a:p>
        </p:txBody>
      </p:sp>
      <p:sp>
        <p:nvSpPr>
          <p:cNvPr id="11" name="clase2"/>
          <p:cNvSpPr/>
          <p:nvPr/>
        </p:nvSpPr>
        <p:spPr>
          <a:xfrm>
            <a:off x="6080760" y="128016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num3"/>
          <p:cNvSpPr/>
          <p:nvPr/>
        </p:nvSpPr>
        <p:spPr>
          <a:xfrm>
            <a:off x="6217920" y="14173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GestionarFigurasDialog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Tabla y operaciones: desplazar, escalar, eliminar</a:t>
            </a:r>
            <a:endParaRPr lang="en-US" sz="1400" dirty="0"/>
          </a:p>
        </p:txBody>
      </p:sp>
      <p:sp>
        <p:nvSpPr>
          <p:cNvPr id="15" name="clase3"/>
          <p:cNvSpPr/>
          <p:nvPr/>
        </p:nvSpPr>
        <p:spPr>
          <a:xfrm>
            <a:off x="457200" y="292608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num4"/>
          <p:cNvSpPr/>
          <p:nvPr/>
        </p:nvSpPr>
        <p:spPr>
          <a:xfrm>
            <a:off x="594360" y="30632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CompararFigurasDialog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Comparación de dos figuras</a:t>
            </a:r>
            <a:endParaRPr lang="en-US" sz="1400" dirty="0"/>
          </a:p>
        </p:txBody>
      </p:sp>
      <p:sp>
        <p:nvSpPr>
          <p:cNvPr id="19" name="clase4"/>
          <p:cNvSpPr/>
          <p:nvPr/>
        </p:nvSpPr>
        <p:spPr>
          <a:xfrm>
            <a:off x="3268980" y="292608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num5"/>
          <p:cNvSpPr/>
          <p:nvPr/>
        </p:nvSpPr>
        <p:spPr>
          <a:xfrm>
            <a:off x="3406140" y="306324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40614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RepositorioFiguras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06140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Lista en memoria de las figuras creadas</a:t>
            </a:r>
            <a:endParaRPr lang="en-US" sz="1400" dirty="0"/>
          </a:p>
        </p:txBody>
      </p:sp>
      <p:sp>
        <p:nvSpPr>
          <p:cNvPr id="23" name="clase5"/>
          <p:cNvSpPr/>
          <p:nvPr/>
        </p:nvSpPr>
        <p:spPr>
          <a:xfrm>
            <a:off x="6080760" y="292608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num6"/>
          <p:cNvSpPr/>
          <p:nvPr/>
        </p:nvSpPr>
        <p:spPr>
          <a:xfrm>
            <a:off x="6217920" y="306324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Lectura de campos de texto y mensajes de error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Cada pantalla: .form + .java</a:t>
            </a:r>
            <a:endParaRPr lang="en-US" sz="3600" dirty="0"/>
          </a:p>
        </p:txBody>
      </p:sp>
      <p:sp>
        <p:nvSpPr>
          <p:cNvPr id="3" name="form"/>
          <p:cNvSpPr/>
          <p:nvPr/>
        </p:nvSpPr>
        <p:spPr>
          <a:xfrm>
            <a:off x="457200" y="1280160"/>
            <a:ext cx="384048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.form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XML con el diseño: componentes, posición en la cuadrícula y textos. Se edita arrastrando en el GUI Designer de IntelliJ.</a:t>
            </a:r>
            <a:endParaRPr lang="en-US" sz="1400" dirty="0"/>
          </a:p>
        </p:txBody>
      </p:sp>
      <p:sp>
        <p:nvSpPr>
          <p:cNvPr id="6" name="java"/>
          <p:cNvSpPr/>
          <p:nvPr/>
        </p:nvSpPr>
        <p:spPr>
          <a:xfrm>
            <a:off x="4846320" y="1280160"/>
            <a:ext cx="3840480" cy="1737360"/>
          </a:xfrm>
          <a:prstGeom prst="roundRect">
            <a:avLst>
              <a:gd name="adj" fmla="val 631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.java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8288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La lógica: qué pasa al pulsar un botón y qué se hace con los datos.</a:t>
            </a:r>
            <a:endParaRPr lang="en-US" sz="1400" dirty="0"/>
          </a:p>
        </p:txBody>
      </p:sp>
      <p:sp>
        <p:nvSpPr>
          <p:cNvPr id="9" name="enlace"/>
          <p:cNvSpPr/>
          <p:nvPr/>
        </p:nvSpPr>
        <p:spPr>
          <a:xfrm>
            <a:off x="4389120" y="1965960"/>
            <a:ext cx="365760" cy="320040"/>
          </a:xfrm>
          <a:prstGeom prst="left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codigo"/>
          <p:cNvSpPr/>
          <p:nvPr/>
        </p:nvSpPr>
        <p:spPr>
          <a:xfrm>
            <a:off x="457200" y="3291840"/>
            <a:ext cx="8229600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3375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JButton btnCrear;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binding="btnCrear"  //  el nombre debe ser idéntico en ambos archivos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Se conectan con bind-to-class en el .form y un binding por componente.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Dónde está el código de los botones</a:t>
            </a:r>
            <a:endParaRPr lang="en-US" sz="3600" dirty="0"/>
          </a:p>
        </p:txBody>
      </p:sp>
      <p:sp>
        <p:nvSpPr>
          <p:cNvPr id="3" name="flujo0"/>
          <p:cNvSpPr/>
          <p:nvPr/>
        </p:nvSpPr>
        <p:spPr>
          <a:xfrm>
            <a:off x="457200" y="1234440"/>
            <a:ext cx="2194560" cy="640080"/>
          </a:xfrm>
          <a:prstGeom prst="roundRect">
            <a:avLst>
              <a:gd name="adj" fmla="val 17143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.form (XML)</a:t>
            </a:r>
            <a:endParaRPr lang="en-US" sz="1400" dirty="0"/>
          </a:p>
        </p:txBody>
      </p:sp>
      <p:sp>
        <p:nvSpPr>
          <p:cNvPr id="4" name="paso0"/>
          <p:cNvSpPr/>
          <p:nvPr/>
        </p:nvSpPr>
        <p:spPr>
          <a:xfrm>
            <a:off x="2788920" y="1371600"/>
            <a:ext cx="548640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flujo1"/>
          <p:cNvSpPr/>
          <p:nvPr/>
        </p:nvSpPr>
        <p:spPr>
          <a:xfrm>
            <a:off x="3474720" y="1234440"/>
            <a:ext cx="219456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Compilar en IntelliJ</a:t>
            </a:r>
            <a:endParaRPr lang="en-US" sz="1400" dirty="0"/>
          </a:p>
        </p:txBody>
      </p:sp>
      <p:sp>
        <p:nvSpPr>
          <p:cNvPr id="6" name="paso1"/>
          <p:cNvSpPr/>
          <p:nvPr/>
        </p:nvSpPr>
        <p:spPr>
          <a:xfrm>
            <a:off x="5806440" y="1371600"/>
            <a:ext cx="548640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flujo2"/>
          <p:cNvSpPr/>
          <p:nvPr/>
        </p:nvSpPr>
        <p:spPr>
          <a:xfrm>
            <a:off x="6492240" y="1234440"/>
            <a:ext cx="219456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$$$setupUI$$$()</a:t>
            </a:r>
            <a:endParaRPr lang="en-US" sz="1400" dirty="0"/>
          </a:p>
        </p:txBody>
      </p:sp>
      <p:sp>
        <p:nvSpPr>
          <p:cNvPr id="8" name="gen0"/>
          <p:cNvSpPr/>
          <p:nvPr/>
        </p:nvSpPr>
        <p:spPr>
          <a:xfrm>
            <a:off x="457200" y="214884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num1"/>
          <p:cNvSpPr/>
          <p:nvPr/>
        </p:nvSpPr>
        <p:spPr>
          <a:xfrm>
            <a:off x="594360" y="22860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74320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Crea los componentes (new JButton(), new JTextField()…)</a:t>
            </a:r>
            <a:endParaRPr lang="en-US" sz="1400" dirty="0"/>
          </a:p>
        </p:txBody>
      </p:sp>
      <p:sp>
        <p:nvSpPr>
          <p:cNvPr id="11" name="gen1"/>
          <p:cNvSpPr/>
          <p:nvPr/>
        </p:nvSpPr>
        <p:spPr>
          <a:xfrm>
            <a:off x="2583180" y="214884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num2"/>
          <p:cNvSpPr/>
          <p:nvPr/>
        </p:nvSpPr>
        <p:spPr>
          <a:xfrm>
            <a:off x="2720340" y="22860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720340" y="274320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Les da texto, tamaño y posición según el .form</a:t>
            </a:r>
            <a:endParaRPr lang="en-US" sz="1400" dirty="0"/>
          </a:p>
        </p:txBody>
      </p:sp>
      <p:sp>
        <p:nvSpPr>
          <p:cNvPr id="14" name="gen2"/>
          <p:cNvSpPr/>
          <p:nvPr/>
        </p:nvSpPr>
        <p:spPr>
          <a:xfrm>
            <a:off x="4709160" y="214884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num3"/>
          <p:cNvSpPr/>
          <p:nvPr/>
        </p:nvSpPr>
        <p:spPr>
          <a:xfrm>
            <a:off x="4846320" y="22860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74320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Asigna cada uno al campo con su mismo nombre</a:t>
            </a:r>
            <a:endParaRPr lang="en-US" sz="1400" dirty="0"/>
          </a:p>
        </p:txBody>
      </p:sp>
      <p:sp>
        <p:nvSpPr>
          <p:cNvPr id="17" name="gen3"/>
          <p:cNvSpPr/>
          <p:nvPr/>
        </p:nvSpPr>
        <p:spPr>
          <a:xfrm>
            <a:off x="6835140" y="214884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num4"/>
          <p:cNvSpPr/>
          <p:nvPr/>
        </p:nvSpPr>
        <p:spPr>
          <a:xfrm>
            <a:off x="6972300" y="22860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72300" y="274320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Arma el panel con GridLayoutManager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Debe ejecutarse desde IntelliJ: </a:t>
            </a:r>
            <a:r>
              <a:rPr lang="en-US" sz="1600" dirty="0">
                <a:solidFill>
                  <a:schemeClr val="tx1"/>
                </a:solidFill>
              </a:rPr>
              <a:t>fuera de él nadie genera ese método y los campos quedarían null.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Cómo funciona cada pantalla</a:t>
            </a:r>
            <a:endParaRPr lang="en-US" sz="3600" dirty="0"/>
          </a:p>
        </p:txBody>
      </p:sp>
      <p:sp>
        <p:nvSpPr>
          <p:cNvPr id="3" name="codigo"/>
          <p:cNvSpPr/>
          <p:nvPr/>
        </p:nvSpPr>
        <p:spPr>
          <a:xfrm>
            <a:off x="457200" y="1280160"/>
            <a:ext cx="4114800" cy="3108960"/>
          </a:xfrm>
          <a:prstGeom prst="roundRect">
            <a:avLst>
              <a:gd name="adj" fmla="val 35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CrearFiguraDialog(...)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super(owner,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"Crear figura", true);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setContentPane(rootPanel);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btnCrear.addActionListener(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 -&gt; crear());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pack();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num1"/>
          <p:cNvSpPr/>
          <p:nvPr/>
        </p:nvSpPr>
        <p:spPr>
          <a:xfrm>
            <a:off x="484632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40680" y="12801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Eventos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Cada botón tiene un ActionListener con lambda.</a:t>
            </a:r>
            <a:endParaRPr lang="en-US" sz="1400" dirty="0"/>
          </a:p>
        </p:txBody>
      </p:sp>
      <p:sp>
        <p:nvSpPr>
          <p:cNvPr id="7" name="num2"/>
          <p:cNvSpPr/>
          <p:nvPr/>
        </p:nvSpPr>
        <p:spPr>
          <a:xfrm>
            <a:off x="4846320" y="2176272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208483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Ventana modal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Bloquea el menú hasta cerrar el diálogo.</a:t>
            </a:r>
            <a:endParaRPr lang="en-US" sz="1400" dirty="0"/>
          </a:p>
        </p:txBody>
      </p:sp>
      <p:sp>
        <p:nvSpPr>
          <p:cNvPr id="9" name="num3"/>
          <p:cNvSpPr/>
          <p:nvPr/>
        </p:nvSpPr>
        <p:spPr>
          <a:xfrm>
            <a:off x="4846320" y="2980944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2889504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CardLayout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Paneles apilados: se ve uno según el combo.</a:t>
            </a:r>
            <a:endParaRPr lang="en-US" sz="1400" dirty="0"/>
          </a:p>
        </p:txBody>
      </p:sp>
      <p:sp>
        <p:nvSpPr>
          <p:cNvPr id="11" name="num4"/>
          <p:cNvSpPr/>
          <p:nvPr/>
        </p:nvSpPr>
        <p:spPr>
          <a:xfrm>
            <a:off x="4846320" y="3785616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3694176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JTable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DefaultTableModel de solo lectura y listener de selección.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Ejemplo: crear un círculo</a:t>
            </a:r>
            <a:endParaRPr lang="en-US" sz="3600" dirty="0"/>
          </a:p>
        </p:txBody>
      </p:sp>
      <p:sp>
        <p:nvSpPr>
          <p:cNvPr id="3" name="ej0"/>
          <p:cNvSpPr/>
          <p:nvPr/>
        </p:nvSpPr>
        <p:spPr>
          <a:xfrm>
            <a:off x="457200" y="1280160"/>
            <a:ext cx="39319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num1"/>
          <p:cNvSpPr/>
          <p:nvPr/>
        </p:nvSpPr>
        <p:spPr>
          <a:xfrm>
            <a:off x="594360" y="15361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25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El usuario elige Círculo, centro 0,0 y radio 2, y pulsa Crear figura.</a:t>
            </a:r>
            <a:endParaRPr lang="en-US" sz="1400" dirty="0"/>
          </a:p>
        </p:txBody>
      </p:sp>
      <p:sp>
        <p:nvSpPr>
          <p:cNvPr id="6" name="ej1"/>
          <p:cNvSpPr/>
          <p:nvPr/>
        </p:nvSpPr>
        <p:spPr>
          <a:xfrm>
            <a:off x="457200" y="2377440"/>
            <a:ext cx="39319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num2"/>
          <p:cNvSpPr/>
          <p:nvPr/>
        </p:nvSpPr>
        <p:spPr>
          <a:xfrm>
            <a:off x="594360" y="26334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4231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 ejecuta crear(), que llama a construir().</a:t>
            </a:r>
            <a:endParaRPr lang="en-US" sz="1400" dirty="0"/>
          </a:p>
        </p:txBody>
      </p:sp>
      <p:sp>
        <p:nvSpPr>
          <p:cNvPr id="9" name="ej2"/>
          <p:cNvSpPr/>
          <p:nvPr/>
        </p:nvSpPr>
        <p:spPr>
          <a:xfrm>
            <a:off x="457200" y="3474720"/>
            <a:ext cx="39319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num3"/>
          <p:cNvSpPr/>
          <p:nvPr/>
        </p:nvSpPr>
        <p:spPr>
          <a:xfrm>
            <a:off x="594360" y="37307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204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Entradas.leer() convierte el texto en double (coma o punto).</a:t>
            </a:r>
            <a:endParaRPr lang="en-US" sz="1400" dirty="0"/>
          </a:p>
        </p:txBody>
      </p:sp>
      <p:sp>
        <p:nvSpPr>
          <p:cNvPr id="12" name="ej3"/>
          <p:cNvSpPr/>
          <p:nvPr/>
        </p:nvSpPr>
        <p:spPr>
          <a:xfrm>
            <a:off x="4754880" y="1280160"/>
            <a:ext cx="39319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num4"/>
          <p:cNvSpPr/>
          <p:nvPr/>
        </p:nvSpPr>
        <p:spPr>
          <a:xfrm>
            <a:off x="4892040" y="15361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1325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new Circulo(punto, radio): el modelo valida el radio.</a:t>
            </a:r>
            <a:endParaRPr lang="en-US" sz="1400" dirty="0"/>
          </a:p>
        </p:txBody>
      </p:sp>
      <p:sp>
        <p:nvSpPr>
          <p:cNvPr id="15" name="ej4"/>
          <p:cNvSpPr/>
          <p:nvPr/>
        </p:nvSpPr>
        <p:spPr>
          <a:xfrm>
            <a:off x="4754880" y="2377440"/>
            <a:ext cx="39319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num5"/>
          <p:cNvSpPr/>
          <p:nvPr/>
        </p:nvSpPr>
        <p:spPr>
          <a:xfrm>
            <a:off x="4892040" y="2633472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24231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 es válido: se guarda como “Círculo 1” y se muestran área y perímetro.</a:t>
            </a:r>
            <a:endParaRPr lang="en-US" sz="1400" dirty="0"/>
          </a:p>
        </p:txBody>
      </p:sp>
      <p:sp>
        <p:nvSpPr>
          <p:cNvPr id="18" name="ej5"/>
          <p:cNvSpPr/>
          <p:nvPr/>
        </p:nvSpPr>
        <p:spPr>
          <a:xfrm>
            <a:off x="4754880" y="3474720"/>
            <a:ext cx="39319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num6"/>
          <p:cNvSpPr/>
          <p:nvPr/>
        </p:nvSpPr>
        <p:spPr>
          <a:xfrm>
            <a:off x="4892040" y="3730752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35204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 no: DimensionInvalidaException y cuadro de error con el mensaje.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Robustez y polimorfismo</a:t>
            </a:r>
            <a:endParaRPr lang="en-US" sz="3600" dirty="0"/>
          </a:p>
        </p:txBody>
      </p:sp>
      <p:sp>
        <p:nvSpPr>
          <p:cNvPr id="3" name="errores"/>
          <p:cNvSpPr/>
          <p:nvPr/>
        </p:nvSpPr>
        <p:spPr>
          <a:xfrm>
            <a:off x="457200" y="1280160"/>
            <a:ext cx="402336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Manejo de errores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validación no se duplicó: sigue en el modelo.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DimensionInvalidaException hereda de IllegalArgumentException.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interfaz captura una sola excepción: dimensiones inválidas y texto no numérico.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programa no se cae: avisa y deja corregir.</a:t>
            </a:r>
            <a:endParaRPr lang="en-US" sz="1400" dirty="0"/>
          </a:p>
        </p:txBody>
      </p:sp>
      <p:sp>
        <p:nvSpPr>
          <p:cNvPr id="6" name="poli"/>
          <p:cNvSpPr/>
          <p:nvPr/>
        </p:nvSpPr>
        <p:spPr>
          <a:xfrm>
            <a:off x="4663440" y="1280160"/>
            <a:ext cx="402336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9204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Polimorfismo y genéricos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7452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tabla trata todas las figuras como Figura&lt;?&gt; y llama area(), perimetro(), escalar()…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Figura&lt;T&gt; implementa Comparable&lt;T&gt;: solo se compara un círculo con otro círculo.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Por eso el diálogo pide elegir primero el tipo; la comparación usa dimensionar().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Cómo se usa</a:t>
            </a:r>
            <a:endParaRPr lang="en-US" sz="3600" dirty="0"/>
          </a:p>
        </p:txBody>
      </p:sp>
      <p:sp>
        <p:nvSpPr>
          <p:cNvPr id="3" name="uso0"/>
          <p:cNvSpPr/>
          <p:nvPr/>
        </p:nvSpPr>
        <p:spPr>
          <a:xfrm>
            <a:off x="457200" y="1371600"/>
            <a:ext cx="1920240" cy="292608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Ejecutar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Abrir MenuPrincipal desde IntelliJ.</a:t>
            </a:r>
            <a:endParaRPr lang="en-US" sz="1400" dirty="0"/>
          </a:p>
        </p:txBody>
      </p:sp>
      <p:sp>
        <p:nvSpPr>
          <p:cNvPr id="7" name="uso1"/>
          <p:cNvSpPr/>
          <p:nvPr/>
        </p:nvSpPr>
        <p:spPr>
          <a:xfrm>
            <a:off x="2560320" y="1371600"/>
            <a:ext cx="1920240" cy="292608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num2"/>
          <p:cNvSpPr/>
          <p:nvPr/>
        </p:nvSpPr>
        <p:spPr>
          <a:xfrm>
            <a:off x="2743200" y="155448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286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Crear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74320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Elegir tipo, llenar datos y crear; se pueden crear varias.</a:t>
            </a:r>
            <a:endParaRPr lang="en-US" sz="1400" dirty="0"/>
          </a:p>
        </p:txBody>
      </p:sp>
      <p:sp>
        <p:nvSpPr>
          <p:cNvPr id="11" name="uso2"/>
          <p:cNvSpPr/>
          <p:nvPr/>
        </p:nvSpPr>
        <p:spPr>
          <a:xfrm>
            <a:off x="4663440" y="1371600"/>
            <a:ext cx="1920240" cy="292608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um3"/>
          <p:cNvSpPr/>
          <p:nvPr/>
        </p:nvSpPr>
        <p:spPr>
          <a:xfrm>
            <a:off x="4846320" y="155448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286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Gestionar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74320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Seleccionar una fila, ver su información, desplazar, escalar o eliminar.</a:t>
            </a:r>
            <a:endParaRPr lang="en-US" sz="1400" dirty="0"/>
          </a:p>
        </p:txBody>
      </p:sp>
      <p:sp>
        <p:nvSpPr>
          <p:cNvPr id="15" name="uso3"/>
          <p:cNvSpPr/>
          <p:nvPr/>
        </p:nvSpPr>
        <p:spPr>
          <a:xfrm>
            <a:off x="6766560" y="1371600"/>
            <a:ext cx="1920240" cy="292608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num4"/>
          <p:cNvSpPr/>
          <p:nvPr/>
        </p:nvSpPr>
        <p:spPr>
          <a:xfrm>
            <a:off x="6949440" y="155448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286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Comparar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74320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Elegir tipo y dos figuras, y pulsar Comparar.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Preguntas frecuentes</a:t>
            </a:r>
            <a:endParaRPr lang="en-US" sz="3600" dirty="0"/>
          </a:p>
        </p:txBody>
      </p:sp>
      <p:sp>
        <p:nvSpPr>
          <p:cNvPr id="3" name="qa0"/>
          <p:cNvSpPr/>
          <p:nvPr/>
        </p:nvSpPr>
        <p:spPr>
          <a:xfrm>
            <a:off x="457200" y="123444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307592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¿Dónde está el código de los botones?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Lo genera IntelliJ desde el .form.</a:t>
            </a:r>
            <a:endParaRPr lang="en-US" sz="1400" dirty="0"/>
          </a:p>
        </p:txBody>
      </p:sp>
      <p:sp>
        <p:nvSpPr>
          <p:cNvPr id="5" name="qa1"/>
          <p:cNvSpPr/>
          <p:nvPr/>
        </p:nvSpPr>
        <p:spPr>
          <a:xfrm>
            <a:off x="3268980" y="123444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406140" y="1307592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¿Por qué no se toca figuras?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Para mantener el modelo independiente.</a:t>
            </a:r>
            <a:endParaRPr lang="en-US" sz="1400" dirty="0"/>
          </a:p>
        </p:txBody>
      </p:sp>
      <p:sp>
        <p:nvSpPr>
          <p:cNvPr id="7" name="qa2"/>
          <p:cNvSpPr/>
          <p:nvPr/>
        </p:nvSpPr>
        <p:spPr>
          <a:xfrm>
            <a:off x="6080760" y="123444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17920" y="1307592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¿Cómo comparten datos las ventanas?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Un único RepositorioFiguras por constructor.</a:t>
            </a:r>
            <a:endParaRPr lang="en-US" sz="1400" dirty="0"/>
          </a:p>
        </p:txBody>
      </p:sp>
      <p:sp>
        <p:nvSpPr>
          <p:cNvPr id="9" name="qa3"/>
          <p:cNvSpPr/>
          <p:nvPr/>
        </p:nvSpPr>
        <p:spPr>
          <a:xfrm>
            <a:off x="457200" y="288036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4360" y="2953512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¿Por qué comparar solo el mismo tipo?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Figura&lt;T&gt; implementa Comparable&lt;T&gt;.</a:t>
            </a:r>
            <a:endParaRPr lang="en-US" sz="1400" dirty="0"/>
          </a:p>
        </p:txBody>
      </p:sp>
      <p:sp>
        <p:nvSpPr>
          <p:cNvPr id="11" name="qa4"/>
          <p:cNvSpPr/>
          <p:nvPr/>
        </p:nvSpPr>
        <p:spPr>
          <a:xfrm>
            <a:off x="3268980" y="288036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06140" y="2953512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¿Dónde se validan los datos?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Dimensiones en el modelo; formato en Entradas.</a:t>
            </a:r>
            <a:endParaRPr lang="en-US" sz="1400" dirty="0"/>
          </a:p>
        </p:txBody>
      </p:sp>
      <p:sp>
        <p:nvSpPr>
          <p:cNvPr id="13" name="qa5"/>
          <p:cNvSpPr/>
          <p:nvPr/>
        </p:nvSpPr>
        <p:spPr>
          <a:xfrm>
            <a:off x="6080760" y="288036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17920" y="2953512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¿Se guardan al cerrar?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No, viven en memoria. Mejora futura: archivo.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Conclusión</a:t>
            </a:r>
            <a:endParaRPr lang="en-US" sz="3600" dirty="0"/>
          </a:p>
        </p:txBody>
      </p:sp>
      <p:sp>
        <p:nvSpPr>
          <p:cNvPr id="3" name="num1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234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Modelo intacto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La interfaz no modifica el paquete figuras.</a:t>
            </a:r>
            <a:endParaRPr lang="en-US" sz="2000" dirty="0"/>
          </a:p>
        </p:txBody>
      </p:sp>
      <p:sp>
        <p:nvSpPr>
          <p:cNvPr id="5" name="num2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2402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Diseño y lógica separados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Un .form visual en IntelliJ y una clase Java por pantalla.</a:t>
            </a:r>
            <a:endParaRPr lang="en-US" sz="2000" dirty="0"/>
          </a:p>
        </p:txBody>
      </p:sp>
      <p:sp>
        <p:nvSpPr>
          <p:cNvPr id="7" name="num3"/>
          <p:cNvSpPr/>
          <p:nvPr/>
        </p:nvSpPr>
        <p:spPr>
          <a:xfrm>
            <a:off x="457200" y="3383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2461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Reutilización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Repositorio compartido, polimorfismo y excepciones del modelo.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4160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bg1"/>
                </a:solidFill>
              </a:rPr>
              <a:t>JOSUE CASTAÑO  ·  DANIEL CATAÑO  ·  INGENIERÍA DE SOFTWARE II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ing Figuras">
  <a:themeElements>
    <a:clrScheme name="Swing Figuras">
      <a:dk1>
        <a:srgbClr val="10272D"/>
      </a:dk1>
      <a:lt1>
        <a:srgbClr val="FFFFFF"/>
      </a:lt1>
      <a:dk2>
        <a:srgbClr val="1F4E5A"/>
      </a:dk2>
      <a:lt2>
        <a:srgbClr val="EDF3F4"/>
      </a:lt2>
      <a:accent1>
        <a:srgbClr val="1F7A8C"/>
      </a:accent1>
      <a:accent2>
        <a:srgbClr val="F28C28"/>
      </a:accent2>
      <a:accent3>
        <a:srgbClr val="6FB3B8"/>
      </a:accent3>
      <a:accent4>
        <a:srgbClr val="2E4057"/>
      </a:accent4>
      <a:accent5>
        <a:srgbClr val="C8553D"/>
      </a:accent5>
      <a:accent6>
        <a:srgbClr val="8FB339"/>
      </a:accent6>
      <a:hlink>
        <a:srgbClr val="1F7A8C"/>
      </a:hlink>
      <a:folHlink>
        <a:srgbClr val="2E4057"/>
      </a:folHlink>
    </a:clrScheme>
    <a:fontScheme name="Swing Figur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1105</Words>
  <Application>Microsoft Office PowerPoint</Application>
  <PresentationFormat>Presentación en pantalla (16:9)</PresentationFormat>
  <Paragraphs>173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Swing Figuras</vt:lpstr>
      <vt:lpstr>Interfaz gráfica con Java Swing</vt:lpstr>
      <vt:lpstr>Qué hicimos</vt:lpstr>
      <vt:lpstr>Arquitectura en capas</vt:lpstr>
      <vt:lpstr>El paquete app</vt:lpstr>
      <vt:lpstr>Cada pantalla: .form + .java</vt:lpstr>
      <vt:lpstr>Dónde está el código de los botones</vt:lpstr>
      <vt:lpstr>Cómo funciona cada pantalla</vt:lpstr>
      <vt:lpstr>Ejemplo: crear un círculo</vt:lpstr>
      <vt:lpstr>Robustez y polimorfismo</vt:lpstr>
      <vt:lpstr>Cómo se usa</vt:lpstr>
      <vt:lpstr>Preguntas frecuentes</vt:lpstr>
      <vt:lpstr>Conclusión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Interfaz gráfica con Java Swing</dc:title>
  <dc:subject>PptxGenJS Presentation</dc:subject>
  <dc:creator>Josue Castaño y Daniel Cataño</dc:creator>
  <cp:lastModifiedBy>Daniel Montoya</cp:lastModifiedBy>
  <cp:revision>2</cp:revision>
  <dcterms:created xsi:type="dcterms:W3CDTF">2026-10-14T15:43:58Z</dcterms:created>
  <dcterms:modified xsi:type="dcterms:W3CDTF">2026-10-14T15:46:38Z</dcterms:modified>
</cp:coreProperties>
</file>